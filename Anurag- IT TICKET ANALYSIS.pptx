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9" r:id="rId9"/>
    <p:sldId id="263" r:id="rId10"/>
    <p:sldId id="264" r:id="rId11"/>
    <p:sldId id="265" r:id="rId12"/>
    <p:sldId id="268" r:id="rId13"/>
    <p:sldId id="266" r:id="rId14"/>
    <p:sldId id="267"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072" autoAdjust="0"/>
  </p:normalViewPr>
  <p:slideViewPr>
    <p:cSldViewPr snapToGrid="0">
      <p:cViewPr varScale="1">
        <p:scale>
          <a:sx n="77" d="100"/>
          <a:sy n="77" d="100"/>
        </p:scale>
        <p:origin x="912" y="5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RISH SHARMA" userId="10d367593438c549" providerId="LiveId" clId="{63B7FADF-14AD-4189-B793-44A562BB3D73}"/>
    <pc:docChg chg="modSld">
      <pc:chgData name="KRISH SHARMA" userId="10d367593438c549" providerId="LiveId" clId="{63B7FADF-14AD-4189-B793-44A562BB3D73}" dt="2026-04-03T17:47:04.798" v="3" actId="20577"/>
      <pc:docMkLst>
        <pc:docMk/>
      </pc:docMkLst>
      <pc:sldChg chg="modSp mod">
        <pc:chgData name="KRISH SHARMA" userId="10d367593438c549" providerId="LiveId" clId="{63B7FADF-14AD-4189-B793-44A562BB3D73}" dt="2026-04-03T17:47:04.798" v="3" actId="20577"/>
        <pc:sldMkLst>
          <pc:docMk/>
          <pc:sldMk cId="3927542962" sldId="256"/>
        </pc:sldMkLst>
        <pc:spChg chg="mod">
          <ac:chgData name="KRISH SHARMA" userId="10d367593438c549" providerId="LiveId" clId="{63B7FADF-14AD-4189-B793-44A562BB3D73}" dt="2026-04-03T17:47:04.798" v="3" actId="20577"/>
          <ac:spMkLst>
            <pc:docMk/>
            <pc:sldMk cId="3927542962" sldId="256"/>
            <ac:spMk id="18" creationId="{8B262405-C9C1-28C9-91BD-07639F03DFB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7DD4AE-9637-F0A3-425B-2CCBACFA25D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DB6134-8278-30A6-73B9-CAAEE6B4F75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C4D8E1-D63A-5814-E337-A0BB3361D43E}"/>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5" name="Footer Placeholder 4">
            <a:extLst>
              <a:ext uri="{FF2B5EF4-FFF2-40B4-BE49-F238E27FC236}">
                <a16:creationId xmlns:a16="http://schemas.microsoft.com/office/drawing/2014/main" id="{906FD10B-6268-37A2-3966-8423985433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BA6E1-119F-A9D9-5655-85854E686718}"/>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974550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47C2F-37BC-935E-08CC-001F66404C1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782482-9EBD-822F-AB3B-65D870D9CB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DCEDBC-9761-1089-DE20-9484D33BDBE6}"/>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5" name="Footer Placeholder 4">
            <a:extLst>
              <a:ext uri="{FF2B5EF4-FFF2-40B4-BE49-F238E27FC236}">
                <a16:creationId xmlns:a16="http://schemas.microsoft.com/office/drawing/2014/main" id="{66935E64-4524-ED12-ECEB-00D5A5199DA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58EB13-7A7C-2110-C6DE-72C2DA0C8DE2}"/>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467299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CEBCF-3278-22A4-9FE2-7E0D5825DA0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1791338-4876-F9AE-FEA9-A986746CAF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A804A0A-6F19-0A70-89E1-D458295F6643}"/>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5" name="Footer Placeholder 4">
            <a:extLst>
              <a:ext uri="{FF2B5EF4-FFF2-40B4-BE49-F238E27FC236}">
                <a16:creationId xmlns:a16="http://schemas.microsoft.com/office/drawing/2014/main" id="{501A31D1-3B74-FD48-3297-0B8450760B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17C6E3-75E9-8785-7A00-DBC32F6C810F}"/>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0080059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9D06-F78B-79FA-9F9C-FC9373389E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783447F-A232-89B9-3F99-A8B77053F3D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FA55239-21AA-CE78-7AF9-5A4726C577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188BE41-72FC-4256-0D72-C7AB5A5F7F26}"/>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6" name="Footer Placeholder 5">
            <a:extLst>
              <a:ext uri="{FF2B5EF4-FFF2-40B4-BE49-F238E27FC236}">
                <a16:creationId xmlns:a16="http://schemas.microsoft.com/office/drawing/2014/main" id="{ACC2AAB2-82F6-A7D0-B1A2-F0CF043959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7592D3-B6CB-6AAB-7AC3-3A83E96BD867}"/>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824814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5176E1-2687-4441-1115-EBE68BC6DA3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0072D7-FB8E-2512-2287-EEDDB96061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505742-E3CB-0A30-DAFA-5DAD53BCB0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FCF2284-E103-785A-9770-6CB5067E9F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882A2-8F30-A864-561A-DA16DF345B4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AF978E3-13C8-634B-82D3-5894F517957F}"/>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8" name="Footer Placeholder 7">
            <a:extLst>
              <a:ext uri="{FF2B5EF4-FFF2-40B4-BE49-F238E27FC236}">
                <a16:creationId xmlns:a16="http://schemas.microsoft.com/office/drawing/2014/main" id="{95F81666-9085-A79A-68B2-FDA464FF5E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A00557-F8D9-EECB-4539-A04B06794F2A}"/>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860299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97D3D-6964-54F5-D6CA-5420A3F84A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217CF3-9D43-A1F3-E772-7F0D59FC9DA2}"/>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4" name="Footer Placeholder 3">
            <a:extLst>
              <a:ext uri="{FF2B5EF4-FFF2-40B4-BE49-F238E27FC236}">
                <a16:creationId xmlns:a16="http://schemas.microsoft.com/office/drawing/2014/main" id="{8C1D4DA4-9073-123A-02ED-375D47C960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BAA39F0-51D2-92DD-F2AC-989C479B9277}"/>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815054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B39171-EC71-AC35-DCBE-DB73BFB6CF88}"/>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3" name="Footer Placeholder 2">
            <a:extLst>
              <a:ext uri="{FF2B5EF4-FFF2-40B4-BE49-F238E27FC236}">
                <a16:creationId xmlns:a16="http://schemas.microsoft.com/office/drawing/2014/main" id="{CE9D1D3F-2672-86A5-53D0-1ED624BF721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360D16D-2B49-82C6-32F9-247E8480583A}"/>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5364695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4AAF4-7949-AC76-DD15-A79E968FBA5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B5AF204-D9C8-1834-64A3-8CE0AEC5E24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5687CF5-03E8-12F7-9DE3-9F79BEA91D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4A8AE-1F9C-9963-96D1-F91E7992A601}"/>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6" name="Footer Placeholder 5">
            <a:extLst>
              <a:ext uri="{FF2B5EF4-FFF2-40B4-BE49-F238E27FC236}">
                <a16:creationId xmlns:a16="http://schemas.microsoft.com/office/drawing/2014/main" id="{A4B82192-B14B-6E73-08D3-EC29708CFF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D45F33-5697-84A1-BF9B-796A022A5146}"/>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28478052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011F-E1DF-4A6D-59EC-8C71E38024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6E1786-C280-2C81-5FFD-61BD97C847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98F205F-A897-5551-8268-65BE27926F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56B8C5-CDED-A774-30ED-688B7B766F22}"/>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6" name="Footer Placeholder 5">
            <a:extLst>
              <a:ext uri="{FF2B5EF4-FFF2-40B4-BE49-F238E27FC236}">
                <a16:creationId xmlns:a16="http://schemas.microsoft.com/office/drawing/2014/main" id="{DDD76970-6AB5-77CC-01C0-510FFC17F52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6A5607-5E8B-89B0-E37C-E5BF43016A67}"/>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3362162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4AFF3-BAB5-2724-C8A9-61A9B080B3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649F319-2DB9-2188-E74F-BBD9DF0A06B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41BB01-BFA6-BEC8-6584-E71C43EF6A63}"/>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5" name="Footer Placeholder 4">
            <a:extLst>
              <a:ext uri="{FF2B5EF4-FFF2-40B4-BE49-F238E27FC236}">
                <a16:creationId xmlns:a16="http://schemas.microsoft.com/office/drawing/2014/main" id="{B12B541C-7E5A-672C-825C-B4B0588011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279F3A-6858-4141-7DE0-58A8CB005398}"/>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34774079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397A1E1-2023-7955-31CB-6B981C57846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76CF54-41FE-B5E8-5F32-E8EFA16102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63A51A-A221-2AA8-8268-72948B60EEFF}"/>
              </a:ext>
            </a:extLst>
          </p:cNvPr>
          <p:cNvSpPr>
            <a:spLocks noGrp="1"/>
          </p:cNvSpPr>
          <p:nvPr>
            <p:ph type="dt" sz="half" idx="10"/>
          </p:nvPr>
        </p:nvSpPr>
        <p:spPr/>
        <p:txBody>
          <a:bodyPr/>
          <a:lstStyle/>
          <a:p>
            <a:fld id="{9F9DBBAC-FFE2-41CA-A25C-E977BC328EF5}" type="datetimeFigureOut">
              <a:rPr lang="en-US" smtClean="0"/>
              <a:t>4/3/2026</a:t>
            </a:fld>
            <a:endParaRPr lang="en-US"/>
          </a:p>
        </p:txBody>
      </p:sp>
      <p:sp>
        <p:nvSpPr>
          <p:cNvPr id="5" name="Footer Placeholder 4">
            <a:extLst>
              <a:ext uri="{FF2B5EF4-FFF2-40B4-BE49-F238E27FC236}">
                <a16:creationId xmlns:a16="http://schemas.microsoft.com/office/drawing/2014/main" id="{9BA3038D-8E9E-6CC1-0782-F4EF2357DC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115D69-6E53-1991-A713-7094D4FF0BAC}"/>
              </a:ext>
            </a:extLst>
          </p:cNvPr>
          <p:cNvSpPr>
            <a:spLocks noGrp="1"/>
          </p:cNvSpPr>
          <p:nvPr>
            <p:ph type="sldNum" sz="quarter" idx="12"/>
          </p:nvPr>
        </p:nvSpPr>
        <p:spPr/>
        <p:txBody>
          <a:bodyPr/>
          <a:lstStyle/>
          <a:p>
            <a:fld id="{DE3BA7A8-28A2-41BF-BC14-896224614E79}" type="slidenum">
              <a:rPr lang="en-US" smtClean="0"/>
              <a:t>‹#›</a:t>
            </a:fld>
            <a:endParaRPr lang="en-US"/>
          </a:p>
        </p:txBody>
      </p:sp>
    </p:spTree>
    <p:extLst>
      <p:ext uri="{BB962C8B-B14F-4D97-AF65-F5344CB8AC3E}">
        <p14:creationId xmlns:p14="http://schemas.microsoft.com/office/powerpoint/2010/main" val="10217223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929687-9EB6-8014-37F1-66297F815F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209E83E-AE44-EC68-3A66-7C615F3B5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5B059D-CBBB-FF34-CF3C-65D1F56F321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9DBBAC-FFE2-41CA-A25C-E977BC328EF5}" type="datetimeFigureOut">
              <a:rPr lang="en-US" smtClean="0"/>
              <a:t>4/3/2026</a:t>
            </a:fld>
            <a:endParaRPr lang="en-US"/>
          </a:p>
        </p:txBody>
      </p:sp>
      <p:sp>
        <p:nvSpPr>
          <p:cNvPr id="5" name="Footer Placeholder 4">
            <a:extLst>
              <a:ext uri="{FF2B5EF4-FFF2-40B4-BE49-F238E27FC236}">
                <a16:creationId xmlns:a16="http://schemas.microsoft.com/office/drawing/2014/main" id="{F543ED26-4F65-E0EE-7556-F0E1306285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56A6676-A307-BA57-FF99-5A8732B7CD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E3BA7A8-28A2-41BF-BC14-896224614E79}" type="slidenum">
              <a:rPr lang="en-US" smtClean="0"/>
              <a:t>‹#›</a:t>
            </a:fld>
            <a:endParaRPr lang="en-US"/>
          </a:p>
        </p:txBody>
      </p:sp>
    </p:spTree>
    <p:extLst>
      <p:ext uri="{BB962C8B-B14F-4D97-AF65-F5344CB8AC3E}">
        <p14:creationId xmlns:p14="http://schemas.microsoft.com/office/powerpoint/2010/main" val="31655459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EFEF1F71-C8D2-AD32-8423-EBF3E1956917}"/>
              </a:ext>
            </a:extLst>
          </p:cNvPr>
          <p:cNvSpPr>
            <a:spLocks noGrp="1"/>
          </p:cNvSpPr>
          <p:nvPr>
            <p:ph type="title" idx="4294967295"/>
          </p:nvPr>
        </p:nvSpPr>
        <p:spPr>
          <a:xfrm>
            <a:off x="0" y="365125"/>
            <a:ext cx="10515600" cy="1325563"/>
          </a:xfrm>
        </p:spPr>
        <p:txBody>
          <a:bodyPr/>
          <a:lstStyle/>
          <a:p>
            <a:pPr algn="ctr"/>
            <a:r>
              <a:rPr lang="en-IN" dirty="0">
                <a:solidFill>
                  <a:schemeClr val="accent1"/>
                </a:solidFill>
                <a:latin typeface="Arial Black" panose="020B0A04020102020204" pitchFamily="34" charset="0"/>
              </a:rPr>
              <a:t>   </a:t>
            </a:r>
            <a:r>
              <a:rPr lang="en-IN" b="1" u="sng" dirty="0">
                <a:solidFill>
                  <a:schemeClr val="accent1"/>
                </a:solidFill>
                <a:latin typeface="Arial Black" panose="020B0A04020102020204" pitchFamily="34" charset="0"/>
              </a:rPr>
              <a:t>IT TICKET ANALYSIS</a:t>
            </a:r>
            <a:endParaRPr lang="en-US" b="1" u="sng" dirty="0"/>
          </a:p>
        </p:txBody>
      </p:sp>
      <p:pic>
        <p:nvPicPr>
          <p:cNvPr id="12" name="Picture 11">
            <a:extLst>
              <a:ext uri="{FF2B5EF4-FFF2-40B4-BE49-F238E27FC236}">
                <a16:creationId xmlns:a16="http://schemas.microsoft.com/office/drawing/2014/main" id="{7820682A-7357-1BB7-BA0D-11EE93C81E4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93194" y="1425677"/>
            <a:ext cx="4058265" cy="4149214"/>
          </a:xfrm>
          <a:prstGeom prst="rect">
            <a:avLst/>
          </a:prstGeom>
        </p:spPr>
      </p:pic>
      <p:sp>
        <p:nvSpPr>
          <p:cNvPr id="14" name="TextBox 13">
            <a:extLst>
              <a:ext uri="{FF2B5EF4-FFF2-40B4-BE49-F238E27FC236}">
                <a16:creationId xmlns:a16="http://schemas.microsoft.com/office/drawing/2014/main" id="{63D48534-E912-A92E-2751-6E86D74B34AE}"/>
              </a:ext>
            </a:extLst>
          </p:cNvPr>
          <p:cNvSpPr txBox="1"/>
          <p:nvPr/>
        </p:nvSpPr>
        <p:spPr>
          <a:xfrm>
            <a:off x="629265" y="2312727"/>
            <a:ext cx="6096000" cy="461665"/>
          </a:xfrm>
          <a:prstGeom prst="rect">
            <a:avLst/>
          </a:prstGeom>
          <a:noFill/>
        </p:spPr>
        <p:txBody>
          <a:bodyPr wrap="square">
            <a:spAutoFit/>
          </a:bodyPr>
          <a:lstStyle/>
          <a:p>
            <a:r>
              <a:rPr lang="en-US" sz="2400" b="1" u="sng" dirty="0"/>
              <a:t>A Deep Dive into IT Support Performance</a:t>
            </a:r>
            <a:endParaRPr lang="en-US" b="1" u="sng" dirty="0"/>
          </a:p>
        </p:txBody>
      </p:sp>
      <p:sp>
        <p:nvSpPr>
          <p:cNvPr id="16" name="TextBox 15">
            <a:extLst>
              <a:ext uri="{FF2B5EF4-FFF2-40B4-BE49-F238E27FC236}">
                <a16:creationId xmlns:a16="http://schemas.microsoft.com/office/drawing/2014/main" id="{5480AF97-06B1-EAF1-CB05-19350761706C}"/>
              </a:ext>
            </a:extLst>
          </p:cNvPr>
          <p:cNvSpPr txBox="1"/>
          <p:nvPr/>
        </p:nvSpPr>
        <p:spPr>
          <a:xfrm>
            <a:off x="448597" y="3038619"/>
            <a:ext cx="6096000" cy="461665"/>
          </a:xfrm>
          <a:prstGeom prst="rect">
            <a:avLst/>
          </a:prstGeom>
          <a:noFill/>
        </p:spPr>
        <p:txBody>
          <a:bodyPr wrap="square">
            <a:spAutoFit/>
          </a:bodyPr>
          <a:lstStyle/>
          <a:p>
            <a:r>
              <a:rPr lang="en-US" sz="1800" b="1" u="sng" dirty="0"/>
              <a:t> </a:t>
            </a:r>
            <a:r>
              <a:rPr lang="en-US" sz="2400" b="1" u="sng" dirty="0">
                <a:solidFill>
                  <a:srgbClr val="FF0000"/>
                </a:solidFill>
              </a:rPr>
              <a:t>BY Anurag Tiwari</a:t>
            </a:r>
            <a:r>
              <a:rPr lang="en-US" sz="2400" b="1" dirty="0">
                <a:solidFill>
                  <a:srgbClr val="FF0000"/>
                </a:solidFill>
              </a:rPr>
              <a:t> </a:t>
            </a:r>
            <a:endParaRPr lang="en-US" dirty="0">
              <a:solidFill>
                <a:srgbClr val="FF0000"/>
              </a:solidFill>
            </a:endParaRPr>
          </a:p>
        </p:txBody>
      </p:sp>
      <p:sp>
        <p:nvSpPr>
          <p:cNvPr id="18" name="TextBox 17">
            <a:extLst>
              <a:ext uri="{FF2B5EF4-FFF2-40B4-BE49-F238E27FC236}">
                <a16:creationId xmlns:a16="http://schemas.microsoft.com/office/drawing/2014/main" id="{8B262405-C9C1-28C9-91BD-07639F03DFB5}"/>
              </a:ext>
            </a:extLst>
          </p:cNvPr>
          <p:cNvSpPr txBox="1"/>
          <p:nvPr/>
        </p:nvSpPr>
        <p:spPr>
          <a:xfrm>
            <a:off x="448597" y="3665115"/>
            <a:ext cx="6096000" cy="369332"/>
          </a:xfrm>
          <a:prstGeom prst="rect">
            <a:avLst/>
          </a:prstGeom>
          <a:noFill/>
        </p:spPr>
        <p:txBody>
          <a:bodyPr wrap="square">
            <a:spAutoFit/>
          </a:bodyPr>
          <a:lstStyle/>
          <a:p>
            <a:r>
              <a:rPr lang="en-US" sz="1800" b="1" u="sng" dirty="0">
                <a:solidFill>
                  <a:schemeClr val="accent1">
                    <a:lumMod val="75000"/>
                  </a:schemeClr>
                </a:solidFill>
              </a:rPr>
              <a:t> Date </a:t>
            </a:r>
            <a:r>
              <a:rPr lang="en-US" sz="1800" b="1" u="sng">
                <a:solidFill>
                  <a:schemeClr val="accent1">
                    <a:lumMod val="75000"/>
                  </a:schemeClr>
                </a:solidFill>
              </a:rPr>
              <a:t>– 03-04-26</a:t>
            </a:r>
            <a:endParaRPr lang="en-US" u="sng" dirty="0">
              <a:solidFill>
                <a:schemeClr val="accent1">
                  <a:lumMod val="75000"/>
                </a:schemeClr>
              </a:solidFill>
            </a:endParaRPr>
          </a:p>
        </p:txBody>
      </p:sp>
    </p:spTree>
    <p:extLst>
      <p:ext uri="{BB962C8B-B14F-4D97-AF65-F5344CB8AC3E}">
        <p14:creationId xmlns:p14="http://schemas.microsoft.com/office/powerpoint/2010/main" val="39275429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97F32-A8CE-A444-8D70-D6DECEACB783}"/>
              </a:ext>
            </a:extLst>
          </p:cNvPr>
          <p:cNvSpPr>
            <a:spLocks noGrp="1"/>
          </p:cNvSpPr>
          <p:nvPr>
            <p:ph type="title"/>
          </p:nvPr>
        </p:nvSpPr>
        <p:spPr>
          <a:xfrm>
            <a:off x="838200" y="550605"/>
            <a:ext cx="10515600" cy="1789471"/>
          </a:xfrm>
        </p:spPr>
        <p:txBody>
          <a:bodyPr>
            <a:normAutofit/>
          </a:bodyPr>
          <a:lstStyle/>
          <a:p>
            <a:r>
              <a:rPr lang="en-US" sz="1600" b="1" u="sng" dirty="0">
                <a:solidFill>
                  <a:srgbClr val="FF0000"/>
                </a:solidFill>
              </a:rPr>
              <a:t>Problem Statement</a:t>
            </a:r>
            <a:br>
              <a:rPr lang="en-US" sz="1600" dirty="0"/>
            </a:br>
            <a:r>
              <a:rPr lang="en-US" sz="1600" dirty="0"/>
              <a:t>The purpose of this analysis is to evaluate the IT support ticket management system in order to measure agent performance, resolution efficiency, and employee satisfaction levels. The study aims to identify top and underperforming IT agents, examine the overall effectiveness of the support team, and highlight areas where the ticket resolution process can be improved. Ultimately, the objective is to support data-driven staffing decisions—such as hiring, termination, and training—to improve service quality and enhance overall team performance.</a:t>
            </a:r>
            <a:br>
              <a:rPr lang="en-US" sz="1600" dirty="0"/>
            </a:br>
            <a:endParaRPr lang="en-US" sz="1600" dirty="0"/>
          </a:p>
        </p:txBody>
      </p:sp>
      <p:pic>
        <p:nvPicPr>
          <p:cNvPr id="5" name="Content Placeholder 4">
            <a:extLst>
              <a:ext uri="{FF2B5EF4-FFF2-40B4-BE49-F238E27FC236}">
                <a16:creationId xmlns:a16="http://schemas.microsoft.com/office/drawing/2014/main" id="{3A7614DD-58CE-F70A-590C-EB59FDFEF8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044700"/>
            <a:ext cx="9984264" cy="4132263"/>
          </a:xfrm>
          <a:prstGeom prst="rect">
            <a:avLst/>
          </a:prstGeom>
        </p:spPr>
      </p:pic>
    </p:spTree>
    <p:extLst>
      <p:ext uri="{BB962C8B-B14F-4D97-AF65-F5344CB8AC3E}">
        <p14:creationId xmlns:p14="http://schemas.microsoft.com/office/powerpoint/2010/main" val="3557636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32B1F-DBC0-94FD-7807-5C3BEC246A97}"/>
              </a:ext>
            </a:extLst>
          </p:cNvPr>
          <p:cNvSpPr>
            <a:spLocks noGrp="1"/>
          </p:cNvSpPr>
          <p:nvPr>
            <p:ph type="title"/>
          </p:nvPr>
        </p:nvSpPr>
        <p:spPr/>
        <p:txBody>
          <a:bodyPr/>
          <a:lstStyle/>
          <a:p>
            <a:pPr algn="ctr"/>
            <a:r>
              <a:rPr lang="en-IN" b="1" u="sng" dirty="0">
                <a:solidFill>
                  <a:schemeClr val="accent1">
                    <a:lumMod val="75000"/>
                  </a:schemeClr>
                </a:solidFill>
              </a:rPr>
              <a:t>Data overview</a:t>
            </a:r>
            <a:endParaRPr lang="en-US" u="sng" dirty="0">
              <a:solidFill>
                <a:schemeClr val="accent1">
                  <a:lumMod val="75000"/>
                </a:schemeClr>
              </a:solidFill>
            </a:endParaRPr>
          </a:p>
        </p:txBody>
      </p:sp>
      <p:sp>
        <p:nvSpPr>
          <p:cNvPr id="3" name="Content Placeholder 2">
            <a:extLst>
              <a:ext uri="{FF2B5EF4-FFF2-40B4-BE49-F238E27FC236}">
                <a16:creationId xmlns:a16="http://schemas.microsoft.com/office/drawing/2014/main" id="{2AFA6538-114B-893A-5FC3-CB7271D543B4}"/>
              </a:ext>
            </a:extLst>
          </p:cNvPr>
          <p:cNvSpPr>
            <a:spLocks noGrp="1"/>
          </p:cNvSpPr>
          <p:nvPr>
            <p:ph idx="1"/>
          </p:nvPr>
        </p:nvSpPr>
        <p:spPr/>
        <p:txBody>
          <a:bodyPr>
            <a:normAutofit/>
          </a:bodyPr>
          <a:lstStyle/>
          <a:p>
            <a:r>
              <a:rPr lang="en-US" sz="1800" dirty="0"/>
              <a:t>This analysis is conducted using a dataset of </a:t>
            </a:r>
            <a:r>
              <a:rPr lang="en-US" sz="1800" b="1" u="sng" dirty="0">
                <a:solidFill>
                  <a:schemeClr val="accent1">
                    <a:lumMod val="75000"/>
                  </a:schemeClr>
                </a:solidFill>
              </a:rPr>
              <a:t>97,498 IT support tickets</a:t>
            </a:r>
            <a:r>
              <a:rPr lang="en-US" sz="1800" dirty="0"/>
              <a:t> obtained from an internal service management system to assess help desk performance and uncover important patterns and trends.</a:t>
            </a:r>
          </a:p>
          <a:p>
            <a:r>
              <a:rPr lang="en-US" sz="1800" dirty="0"/>
              <a:t>The dataset is organized into two primary files: a </a:t>
            </a:r>
            <a:r>
              <a:rPr lang="en-US" sz="1800" b="1" dirty="0"/>
              <a:t>Tickets Sheet</a:t>
            </a:r>
            <a:r>
              <a:rPr lang="en-US" sz="1800" dirty="0"/>
              <a:t>, which contains detailed records of all support requests, and an </a:t>
            </a:r>
            <a:r>
              <a:rPr lang="en-US" sz="1800" b="1" dirty="0"/>
              <a:t>IT Agents Sheet</a:t>
            </a:r>
            <a:r>
              <a:rPr lang="en-US" sz="1800" dirty="0"/>
              <a:t>, which provides information about the support staff.</a:t>
            </a:r>
          </a:p>
          <a:p>
            <a:r>
              <a:rPr lang="en-US" sz="1800" dirty="0"/>
              <a:t>Key performance indicators (KPIs) include </a:t>
            </a:r>
            <a:r>
              <a:rPr lang="en-US" sz="1800" b="1" dirty="0"/>
              <a:t>Resolution Time</a:t>
            </a:r>
            <a:r>
              <a:rPr lang="en-US" sz="1800" dirty="0"/>
              <a:t>, with an average of </a:t>
            </a:r>
            <a:r>
              <a:rPr lang="en-US" sz="1800" b="1" u="sng" dirty="0">
                <a:solidFill>
                  <a:schemeClr val="accent1">
                    <a:lumMod val="75000"/>
                  </a:schemeClr>
                </a:solidFill>
              </a:rPr>
              <a:t>5 days</a:t>
            </a:r>
            <a:r>
              <a:rPr lang="en-US" sz="1800" dirty="0"/>
              <a:t>, and </a:t>
            </a:r>
            <a:r>
              <a:rPr lang="en-US" sz="1800" b="1" dirty="0"/>
              <a:t>Employee Satisfaction</a:t>
            </a:r>
            <a:r>
              <a:rPr lang="en-US" sz="1800" dirty="0"/>
              <a:t>, measured on a scale from </a:t>
            </a:r>
            <a:r>
              <a:rPr lang="en-US" sz="1800" b="1" u="sng" dirty="0">
                <a:solidFill>
                  <a:schemeClr val="accent1">
                    <a:lumMod val="75000"/>
                  </a:schemeClr>
                </a:solidFill>
              </a:rPr>
              <a:t>1 to 5</a:t>
            </a:r>
            <a:r>
              <a:rPr lang="en-US" sz="1800" dirty="0"/>
              <a:t>.</a:t>
            </a:r>
          </a:p>
          <a:p>
            <a:r>
              <a:rPr lang="en-US" sz="1800" dirty="0"/>
              <a:t>The help desk handles a steady volume of work, receiving approximately </a:t>
            </a:r>
            <a:r>
              <a:rPr lang="en-US" sz="1800" b="1" u="sng" dirty="0">
                <a:solidFill>
                  <a:schemeClr val="accent1">
                    <a:lumMod val="75000"/>
                  </a:schemeClr>
                </a:solidFill>
              </a:rPr>
              <a:t>53 new tickets per day</a:t>
            </a:r>
            <a:r>
              <a:rPr lang="en-US" sz="1800" dirty="0"/>
              <a:t> on average.</a:t>
            </a:r>
          </a:p>
          <a:p>
            <a:r>
              <a:rPr lang="en-US" sz="1800" dirty="0"/>
              <a:t>Each ticket is classified by </a:t>
            </a:r>
            <a:r>
              <a:rPr lang="en-US" sz="1800" b="1" dirty="0"/>
              <a:t>Request Category</a:t>
            </a:r>
            <a:r>
              <a:rPr lang="en-US" sz="1800" dirty="0"/>
              <a:t> (such as Login Access or System), along with </a:t>
            </a:r>
            <a:r>
              <a:rPr lang="en-US" sz="1800" b="1" dirty="0"/>
              <a:t>Issue Type, Severity, and Priority</a:t>
            </a:r>
            <a:r>
              <a:rPr lang="en-US" sz="1800" dirty="0"/>
              <a:t>, enabling a comprehensive analysis of support requirements.</a:t>
            </a:r>
          </a:p>
          <a:p>
            <a:r>
              <a:rPr lang="en-US" sz="1800" dirty="0"/>
              <a:t>By connecting the ticket records with agent information through the </a:t>
            </a:r>
            <a:r>
              <a:rPr lang="en-US" sz="1800" b="1" dirty="0"/>
              <a:t>Agent ID</a:t>
            </a:r>
            <a:r>
              <a:rPr lang="en-US" sz="1800" dirty="0"/>
              <a:t>, it becomes possible to evaluate performance metrics at the individual agent level, as well as analyze trends based on agent demographics.</a:t>
            </a:r>
          </a:p>
          <a:p>
            <a:pPr marL="0" indent="0">
              <a:buNone/>
            </a:pPr>
            <a:endParaRPr lang="en-US" sz="1800" dirty="0"/>
          </a:p>
        </p:txBody>
      </p:sp>
    </p:spTree>
    <p:extLst>
      <p:ext uri="{BB962C8B-B14F-4D97-AF65-F5344CB8AC3E}">
        <p14:creationId xmlns:p14="http://schemas.microsoft.com/office/powerpoint/2010/main" val="42871681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C8D4C887-8C0C-1031-9494-D00CBCBD4981}"/>
              </a:ext>
            </a:extLst>
          </p:cNvPr>
          <p:cNvSpPr>
            <a:spLocks noGrp="1"/>
          </p:cNvSpPr>
          <p:nvPr>
            <p:ph type="title"/>
          </p:nvPr>
        </p:nvSpPr>
        <p:spPr/>
        <p:txBody>
          <a:bodyPr>
            <a:normAutofit/>
          </a:bodyPr>
          <a:lstStyle/>
          <a:p>
            <a:pPr algn="ctr"/>
            <a:r>
              <a:rPr lang="en-US" sz="3200" b="1" i="0" u="sng" dirty="0">
                <a:solidFill>
                  <a:schemeClr val="accent1">
                    <a:lumMod val="75000"/>
                  </a:schemeClr>
                </a:solidFill>
                <a:effectLst/>
                <a:latin typeface="Britannic Bold" panose="020B0903060703020204" pitchFamily="34" charset="0"/>
              </a:rPr>
              <a:t>Analysis of Ticket Volume (2016-2020)</a:t>
            </a:r>
            <a:endParaRPr lang="en-US" sz="3200" u="sng" dirty="0">
              <a:solidFill>
                <a:schemeClr val="accent1">
                  <a:lumMod val="75000"/>
                </a:schemeClr>
              </a:solidFill>
              <a:latin typeface="Britannic Bold" panose="020B0903060703020204" pitchFamily="34" charset="0"/>
            </a:endParaRPr>
          </a:p>
        </p:txBody>
      </p:sp>
      <p:sp>
        <p:nvSpPr>
          <p:cNvPr id="11" name="Content Placeholder 10">
            <a:extLst>
              <a:ext uri="{FF2B5EF4-FFF2-40B4-BE49-F238E27FC236}">
                <a16:creationId xmlns:a16="http://schemas.microsoft.com/office/drawing/2014/main" id="{786A50A8-D928-8DE1-5902-4BBC38F0D043}"/>
              </a:ext>
            </a:extLst>
          </p:cNvPr>
          <p:cNvSpPr>
            <a:spLocks noGrp="1"/>
          </p:cNvSpPr>
          <p:nvPr>
            <p:ph sz="half" idx="2"/>
          </p:nvPr>
        </p:nvSpPr>
        <p:spPr/>
        <p:txBody>
          <a:bodyPr>
            <a:normAutofit/>
          </a:bodyPr>
          <a:lstStyle/>
          <a:p>
            <a:r>
              <a:rPr lang="en-US" sz="2200" b="1" dirty="0"/>
              <a:t>Key Insights:</a:t>
            </a:r>
            <a:endParaRPr lang="en-US" sz="2200" dirty="0"/>
          </a:p>
          <a:p>
            <a:r>
              <a:rPr lang="en-US" sz="2200" dirty="0"/>
              <a:t>The volume of support tickets has steadily increased over the five-year period, rising from </a:t>
            </a:r>
            <a:r>
              <a:rPr lang="en-US" sz="2200" b="1" dirty="0"/>
              <a:t>13,051 in 2016</a:t>
            </a:r>
            <a:r>
              <a:rPr lang="en-US" sz="2200" dirty="0"/>
              <a:t> to </a:t>
            </a:r>
            <a:r>
              <a:rPr lang="en-US" sz="2200" b="1" dirty="0"/>
              <a:t>29,088 in 2020</a:t>
            </a:r>
            <a:r>
              <a:rPr lang="en-US" sz="2200" dirty="0"/>
              <a:t>, which represents more than a twofold growth.</a:t>
            </a:r>
          </a:p>
          <a:p>
            <a:r>
              <a:rPr lang="en-US" sz="2200" dirty="0"/>
              <a:t>This upward trend is gaining momentum, with the most significant year-over-year increase occurring between </a:t>
            </a:r>
            <a:r>
              <a:rPr lang="en-US" sz="2200" b="1" dirty="0"/>
              <a:t>2019 and 2020</a:t>
            </a:r>
            <a:r>
              <a:rPr lang="en-US" sz="2200" dirty="0"/>
              <a:t>, indicating a rapidly expanding workload for the support team.</a:t>
            </a:r>
          </a:p>
          <a:p>
            <a:pPr marL="0" indent="0">
              <a:buNone/>
            </a:pPr>
            <a:endParaRPr lang="en-US" dirty="0"/>
          </a:p>
        </p:txBody>
      </p:sp>
      <p:pic>
        <p:nvPicPr>
          <p:cNvPr id="1026" name="Picture 2">
            <a:extLst>
              <a:ext uri="{FF2B5EF4-FFF2-40B4-BE49-F238E27FC236}">
                <a16:creationId xmlns:a16="http://schemas.microsoft.com/office/drawing/2014/main" id="{9E90FEC9-7F45-F94D-B48B-74D4F7AFCDE4}"/>
              </a:ext>
            </a:extLst>
          </p:cNvPr>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572729" y="2173174"/>
            <a:ext cx="5181600" cy="3203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605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6C44D-125E-B8EC-6593-191C4EBBFDD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910C405-4EA2-344B-5BC7-858AE1D8E726}"/>
              </a:ext>
            </a:extLst>
          </p:cNvPr>
          <p:cNvSpPr>
            <a:spLocks noGrp="1"/>
          </p:cNvSpPr>
          <p:nvPr>
            <p:ph type="title"/>
          </p:nvPr>
        </p:nvSpPr>
        <p:spPr/>
        <p:txBody>
          <a:bodyPr>
            <a:normAutofit/>
          </a:bodyPr>
          <a:lstStyle/>
          <a:p>
            <a:pPr algn="ctr"/>
            <a:r>
              <a:rPr lang="en-IN" sz="3600" b="1" i="0" u="sng" dirty="0">
                <a:solidFill>
                  <a:schemeClr val="accent1">
                    <a:lumMod val="75000"/>
                  </a:schemeClr>
                </a:solidFill>
                <a:effectLst/>
                <a:latin typeface="Bodoni MT Black" panose="02070A03080606020203" pitchFamily="18" charset="0"/>
              </a:rPr>
              <a:t>Ticket Distribution by Category</a:t>
            </a:r>
            <a:endParaRPr lang="en-US" sz="3600" u="sng" dirty="0">
              <a:solidFill>
                <a:schemeClr val="accent1">
                  <a:lumMod val="75000"/>
                </a:schemeClr>
              </a:solidFill>
              <a:latin typeface="Bodoni MT Black" panose="02070A03080606020203" pitchFamily="18" charset="0"/>
            </a:endParaRPr>
          </a:p>
        </p:txBody>
      </p:sp>
      <p:sp>
        <p:nvSpPr>
          <p:cNvPr id="11" name="Content Placeholder 10">
            <a:extLst>
              <a:ext uri="{FF2B5EF4-FFF2-40B4-BE49-F238E27FC236}">
                <a16:creationId xmlns:a16="http://schemas.microsoft.com/office/drawing/2014/main" id="{15A6032B-B686-998E-BA27-EC96215C770B}"/>
              </a:ext>
            </a:extLst>
          </p:cNvPr>
          <p:cNvSpPr>
            <a:spLocks noGrp="1"/>
          </p:cNvSpPr>
          <p:nvPr>
            <p:ph sz="half" idx="2"/>
          </p:nvPr>
        </p:nvSpPr>
        <p:spPr/>
        <p:txBody>
          <a:bodyPr>
            <a:normAutofit/>
          </a:bodyPr>
          <a:lstStyle/>
          <a:p>
            <a:r>
              <a:rPr lang="en-US" sz="2000" b="1" dirty="0"/>
              <a:t>Key Insights:</a:t>
            </a:r>
            <a:endParaRPr lang="en-US" sz="2000" dirty="0"/>
          </a:p>
          <a:p>
            <a:r>
              <a:rPr lang="en-US" sz="2000" dirty="0"/>
              <a:t>Approximately </a:t>
            </a:r>
            <a:r>
              <a:rPr lang="en-US" sz="2000" b="1" dirty="0"/>
              <a:t>70% of all support tickets</a:t>
            </a:r>
            <a:r>
              <a:rPr lang="en-US" sz="2000" dirty="0"/>
              <a:t> are concentrated in just two categories: </a:t>
            </a:r>
            <a:r>
              <a:rPr lang="en-US" sz="2000" b="1" dirty="0"/>
              <a:t>“System”</a:t>
            </a:r>
            <a:r>
              <a:rPr lang="en-US" sz="2000" dirty="0"/>
              <a:t> with </a:t>
            </a:r>
            <a:r>
              <a:rPr lang="en-US" sz="2000" b="1" dirty="0"/>
              <a:t>39,002 tickets</a:t>
            </a:r>
            <a:r>
              <a:rPr lang="en-US" sz="2000" dirty="0"/>
              <a:t> and </a:t>
            </a:r>
            <a:r>
              <a:rPr lang="en-US" sz="2000" b="1" dirty="0"/>
              <a:t>“Login Access”</a:t>
            </a:r>
            <a:r>
              <a:rPr lang="en-US" sz="2000" dirty="0"/>
              <a:t> with </a:t>
            </a:r>
            <a:r>
              <a:rPr lang="en-US" sz="2000" b="1" dirty="0"/>
              <a:t>29,193 tickets</a:t>
            </a:r>
            <a:r>
              <a:rPr lang="en-US" sz="2000" dirty="0"/>
              <a:t>, highlighting these as the primary drivers of help desk workload.</a:t>
            </a:r>
          </a:p>
          <a:p>
            <a:r>
              <a:rPr lang="en-US" sz="2000" dirty="0"/>
              <a:t>In contrast, </a:t>
            </a:r>
            <a:r>
              <a:rPr lang="en-US" sz="2000" b="1" dirty="0"/>
              <a:t>“Hardware”</a:t>
            </a:r>
            <a:r>
              <a:rPr lang="en-US" sz="2000" dirty="0"/>
              <a:t> issues account for only </a:t>
            </a:r>
            <a:r>
              <a:rPr lang="en-US" sz="2000" b="1" dirty="0"/>
              <a:t>10% of total tickets</a:t>
            </a:r>
            <a:r>
              <a:rPr lang="en-US" sz="2000" dirty="0"/>
              <a:t>, making it the least frequent category. Although less common, hardware-related problems may differ in complexity and could have a distinct impact on resolution time.</a:t>
            </a:r>
          </a:p>
          <a:p>
            <a:pPr marL="0" indent="0">
              <a:buNone/>
            </a:pPr>
            <a:endParaRPr lang="en-US" dirty="0"/>
          </a:p>
        </p:txBody>
      </p:sp>
      <p:pic>
        <p:nvPicPr>
          <p:cNvPr id="1026" name="Picture 2"/>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690556" y="1992700"/>
            <a:ext cx="5409633" cy="3433313"/>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008579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572AB-4B0A-C2C6-A799-0764D960A36C}"/>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917610E-C70B-85E4-6481-937F6FD8FE88}"/>
              </a:ext>
            </a:extLst>
          </p:cNvPr>
          <p:cNvSpPr>
            <a:spLocks noGrp="1"/>
          </p:cNvSpPr>
          <p:nvPr>
            <p:ph type="title"/>
          </p:nvPr>
        </p:nvSpPr>
        <p:spPr/>
        <p:txBody>
          <a:bodyPr>
            <a:normAutofit/>
          </a:bodyPr>
          <a:lstStyle/>
          <a:p>
            <a:pPr algn="ctr"/>
            <a:r>
              <a:rPr lang="en-US" sz="3200" b="1" i="0" u="sng" dirty="0">
                <a:solidFill>
                  <a:schemeClr val="accent1">
                    <a:lumMod val="75000"/>
                  </a:schemeClr>
                </a:solidFill>
                <a:effectLst/>
                <a:latin typeface="Bodoni MT Black" panose="02070A03080606020203" pitchFamily="18" charset="0"/>
              </a:rPr>
              <a:t>Evolution of Customer Satisfaction (2016-2020)</a:t>
            </a:r>
            <a:endParaRPr lang="en-US" sz="3200" u="sng" dirty="0">
              <a:solidFill>
                <a:schemeClr val="accent1">
                  <a:lumMod val="75000"/>
                </a:schemeClr>
              </a:solidFill>
              <a:latin typeface="Bodoni MT Black" panose="02070A03080606020203" pitchFamily="18" charset="0"/>
            </a:endParaRPr>
          </a:p>
        </p:txBody>
      </p:sp>
      <p:sp>
        <p:nvSpPr>
          <p:cNvPr id="11" name="Content Placeholder 10">
            <a:extLst>
              <a:ext uri="{FF2B5EF4-FFF2-40B4-BE49-F238E27FC236}">
                <a16:creationId xmlns:a16="http://schemas.microsoft.com/office/drawing/2014/main" id="{2F214994-913D-0442-1224-ED010B2C0A97}"/>
              </a:ext>
            </a:extLst>
          </p:cNvPr>
          <p:cNvSpPr>
            <a:spLocks noGrp="1"/>
          </p:cNvSpPr>
          <p:nvPr>
            <p:ph sz="half" idx="2"/>
          </p:nvPr>
        </p:nvSpPr>
        <p:spPr/>
        <p:txBody>
          <a:bodyPr>
            <a:normAutofit/>
          </a:bodyPr>
          <a:lstStyle/>
          <a:p>
            <a:r>
              <a:rPr lang="en-US" sz="2000" b="1" dirty="0"/>
              <a:t>Key Insights:</a:t>
            </a:r>
            <a:endParaRPr lang="en-US" sz="2000" dirty="0"/>
          </a:p>
          <a:p>
            <a:r>
              <a:rPr lang="en-US" sz="2000" dirty="0"/>
              <a:t>Service quality has shown consistent improvement over time, with the average customer satisfaction score rising from </a:t>
            </a:r>
            <a:r>
              <a:rPr lang="en-US" sz="2000" b="1" dirty="0"/>
              <a:t>3.98 in 2016</a:t>
            </a:r>
            <a:r>
              <a:rPr lang="en-US" sz="2000" dirty="0"/>
              <a:t> to </a:t>
            </a:r>
            <a:r>
              <a:rPr lang="en-US" sz="2000" b="1" dirty="0"/>
              <a:t>4.16 in 2020</a:t>
            </a:r>
            <a:r>
              <a:rPr lang="en-US" sz="2000" dirty="0"/>
              <a:t>, reflecting a clear positive trend.</a:t>
            </a:r>
          </a:p>
          <a:p>
            <a:r>
              <a:rPr lang="en-US" sz="2000" dirty="0"/>
              <a:t>This steady increase indicates that initiatives such as enhanced agent training and process optimization have likely contributed to improving users’ overall perception of the support service.</a:t>
            </a:r>
          </a:p>
          <a:p>
            <a:pPr marL="0" indent="0">
              <a:buNone/>
            </a:pPr>
            <a:endParaRPr lang="en-US" dirty="0"/>
          </a:p>
        </p:txBody>
      </p:sp>
      <p:pic>
        <p:nvPicPr>
          <p:cNvPr id="2050" name="Picture 2"/>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907048" y="1889185"/>
            <a:ext cx="5074990" cy="3170168"/>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21922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9BC28-B9D8-0A3F-FE92-486C5009ED7D}"/>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F96EE990-029E-1DA7-313B-B02E11185670}"/>
              </a:ext>
            </a:extLst>
          </p:cNvPr>
          <p:cNvSpPr>
            <a:spLocks noGrp="1"/>
          </p:cNvSpPr>
          <p:nvPr>
            <p:ph type="title"/>
          </p:nvPr>
        </p:nvSpPr>
        <p:spPr/>
        <p:txBody>
          <a:bodyPr>
            <a:normAutofit/>
          </a:bodyPr>
          <a:lstStyle/>
          <a:p>
            <a:pPr algn="ctr">
              <a:defRPr sz="1600" b="1" i="0" u="none" strike="noStrike" kern="1200" baseline="0">
                <a:solidFill>
                  <a:srgbClr val="000000"/>
                </a:solidFill>
                <a:latin typeface="+mn-lt"/>
                <a:ea typeface="+mn-ea"/>
                <a:cs typeface="+mn-cs"/>
              </a:defRPr>
            </a:pPr>
            <a:r>
              <a:rPr lang="en-US" sz="3200" b="1" u="sng" dirty="0">
                <a:solidFill>
                  <a:schemeClr val="accent1">
                    <a:lumMod val="75000"/>
                  </a:schemeClr>
                </a:solidFill>
                <a:latin typeface="Bodoni MT Black" panose="02070A03080606020203" pitchFamily="18" charset="0"/>
              </a:rPr>
              <a:t>AGENT TICKET VOLUME WITH NAMES</a:t>
            </a:r>
          </a:p>
        </p:txBody>
      </p:sp>
      <p:sp>
        <p:nvSpPr>
          <p:cNvPr id="11" name="Content Placeholder 10">
            <a:extLst>
              <a:ext uri="{FF2B5EF4-FFF2-40B4-BE49-F238E27FC236}">
                <a16:creationId xmlns:a16="http://schemas.microsoft.com/office/drawing/2014/main" id="{1809FFB2-86D4-36AB-E99C-355591E39B44}"/>
              </a:ext>
            </a:extLst>
          </p:cNvPr>
          <p:cNvSpPr>
            <a:spLocks noGrp="1"/>
          </p:cNvSpPr>
          <p:nvPr>
            <p:ph sz="half" idx="2"/>
          </p:nvPr>
        </p:nvSpPr>
        <p:spPr/>
        <p:txBody>
          <a:bodyPr>
            <a:normAutofit/>
          </a:bodyPr>
          <a:lstStyle/>
          <a:p>
            <a:r>
              <a:rPr lang="en-US" sz="2000" b="1" dirty="0"/>
              <a:t>Key Insights:</a:t>
            </a:r>
            <a:endParaRPr lang="en-US" sz="2000" dirty="0"/>
          </a:p>
          <a:p>
            <a:r>
              <a:rPr lang="en-US" sz="2000" dirty="0"/>
              <a:t>A significant portion of support tickets—</a:t>
            </a:r>
            <a:r>
              <a:rPr lang="en-US" sz="2000" b="1" dirty="0"/>
              <a:t>88,656 in total</a:t>
            </a:r>
            <a:r>
              <a:rPr lang="en-US" sz="2000" dirty="0"/>
              <a:t>—are categorized as </a:t>
            </a:r>
            <a:r>
              <a:rPr lang="en-US" sz="2000" b="1" dirty="0"/>
              <a:t>“Normal” severity</a:t>
            </a:r>
            <a:r>
              <a:rPr lang="en-US" sz="2000" dirty="0"/>
              <a:t>, representing the routine, everyday workload managed by the IT support team.</a:t>
            </a:r>
          </a:p>
          <a:p>
            <a:r>
              <a:rPr lang="en-US" sz="2000" dirty="0"/>
              <a:t>Although fewer in number, </a:t>
            </a:r>
            <a:r>
              <a:rPr lang="en-US" sz="2000" b="1" dirty="0"/>
              <a:t>“Major” (4,836)</a:t>
            </a:r>
            <a:r>
              <a:rPr lang="en-US" sz="2000" dirty="0"/>
              <a:t> and </a:t>
            </a:r>
            <a:r>
              <a:rPr lang="en-US" sz="2000" b="1" dirty="0"/>
              <a:t>“Urgent” (1,392)</a:t>
            </a:r>
            <a:r>
              <a:rPr lang="en-US" sz="2000" dirty="0"/>
              <a:t> tickets are the most critical cases. These issues demand prompt and efficient resolution due to their substantial impact on users and overall business operations.</a:t>
            </a:r>
          </a:p>
          <a:p>
            <a:pPr marL="0" indent="0">
              <a:buNone/>
            </a:pPr>
            <a:endParaRPr lang="en-US" dirty="0"/>
          </a:p>
        </p:txBody>
      </p:sp>
      <p:pic>
        <p:nvPicPr>
          <p:cNvPr id="3074" name="Picture 2"/>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838200" y="2009955"/>
            <a:ext cx="4964002" cy="3235316"/>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6464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6EDF6-1F9F-31C2-CA83-F810EEBA4FEC}"/>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A5242FB-4ABA-4C82-BE5D-4FD7DD948C73}"/>
              </a:ext>
            </a:extLst>
          </p:cNvPr>
          <p:cNvSpPr>
            <a:spLocks noGrp="1"/>
          </p:cNvSpPr>
          <p:nvPr>
            <p:ph type="title"/>
          </p:nvPr>
        </p:nvSpPr>
        <p:spPr/>
        <p:txBody>
          <a:bodyPr>
            <a:normAutofit/>
          </a:bodyPr>
          <a:lstStyle/>
          <a:p>
            <a:pPr algn="ctr"/>
            <a:r>
              <a:rPr lang="en-US" sz="3200" b="1" i="0" u="sng" dirty="0">
                <a:solidFill>
                  <a:srgbClr val="0070C0"/>
                </a:solidFill>
                <a:effectLst/>
                <a:latin typeface="Arial Black" panose="020B0A04020102020204" pitchFamily="34" charset="0"/>
              </a:rPr>
              <a:t>Ticket Distribution by Satisfaction Score</a:t>
            </a:r>
            <a:endParaRPr lang="en-US" sz="3200" u="sng" dirty="0">
              <a:solidFill>
                <a:srgbClr val="0070C0"/>
              </a:solidFill>
              <a:latin typeface="Arial Black" panose="020B0A04020102020204" pitchFamily="34" charset="0"/>
            </a:endParaRPr>
          </a:p>
        </p:txBody>
      </p:sp>
      <p:sp>
        <p:nvSpPr>
          <p:cNvPr id="11" name="Content Placeholder 10">
            <a:extLst>
              <a:ext uri="{FF2B5EF4-FFF2-40B4-BE49-F238E27FC236}">
                <a16:creationId xmlns:a16="http://schemas.microsoft.com/office/drawing/2014/main" id="{A4F0D4AA-D53C-F292-F2E0-375586DD27F6}"/>
              </a:ext>
            </a:extLst>
          </p:cNvPr>
          <p:cNvSpPr>
            <a:spLocks noGrp="1"/>
          </p:cNvSpPr>
          <p:nvPr>
            <p:ph sz="half" idx="2"/>
          </p:nvPr>
        </p:nvSpPr>
        <p:spPr/>
        <p:txBody>
          <a:bodyPr>
            <a:normAutofit/>
          </a:bodyPr>
          <a:lstStyle/>
          <a:p>
            <a:r>
              <a:rPr lang="en-US" sz="2000" b="1" dirty="0"/>
              <a:t>Key Insights:</a:t>
            </a:r>
            <a:endParaRPr lang="en-US" sz="2000" dirty="0"/>
          </a:p>
          <a:p>
            <a:r>
              <a:rPr lang="en-US" sz="2000" dirty="0"/>
              <a:t>A substantial share of users express very high satisfaction, with </a:t>
            </a:r>
            <a:r>
              <a:rPr lang="en-US" sz="2000" b="1" dirty="0"/>
              <a:t>50,770 tickets</a:t>
            </a:r>
            <a:r>
              <a:rPr lang="en-US" sz="2000" dirty="0"/>
              <a:t> earning the top rating of </a:t>
            </a:r>
            <a:r>
              <a:rPr lang="en-US" sz="2000" b="1" dirty="0"/>
              <a:t>5</a:t>
            </a:r>
            <a:r>
              <a:rPr lang="en-US" sz="2000" dirty="0"/>
              <a:t>, reflecting the team’s strong ability to deliver quality support.</a:t>
            </a:r>
          </a:p>
          <a:p>
            <a:r>
              <a:rPr lang="en-US" sz="2000" dirty="0"/>
              <a:t>Nevertheless, there is still room for improvement. More than </a:t>
            </a:r>
            <a:r>
              <a:rPr lang="en-US" sz="2000" b="1" dirty="0"/>
              <a:t>19,000 tickets</a:t>
            </a:r>
            <a:r>
              <a:rPr lang="en-US" sz="2000" dirty="0"/>
              <a:t> received lower ratings (1, 2, or 3), signaling the need to enhance service consistency and investigate the underlying causes of negative feedback.</a:t>
            </a:r>
          </a:p>
          <a:p>
            <a:pPr marL="0" indent="0">
              <a:buNone/>
            </a:pPr>
            <a:endParaRPr lang="en-US" dirty="0"/>
          </a:p>
        </p:txBody>
      </p:sp>
      <p:pic>
        <p:nvPicPr>
          <p:cNvPr id="4098" name="Picture 2"/>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684588" y="1975449"/>
            <a:ext cx="5466045" cy="3474428"/>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36482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DB427-EC6A-C464-C766-CF81BFDADB0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9B8BC639-7D69-D788-0627-3A0BC3D759D4}"/>
              </a:ext>
            </a:extLst>
          </p:cNvPr>
          <p:cNvSpPr>
            <a:spLocks noGrp="1"/>
          </p:cNvSpPr>
          <p:nvPr>
            <p:ph type="title"/>
          </p:nvPr>
        </p:nvSpPr>
        <p:spPr/>
        <p:txBody>
          <a:bodyPr>
            <a:normAutofit/>
          </a:bodyPr>
          <a:lstStyle/>
          <a:p>
            <a:pPr algn="ctr"/>
            <a:r>
              <a:rPr lang="en-US" sz="3200" b="1" u="sng" dirty="0">
                <a:solidFill>
                  <a:schemeClr val="accent1">
                    <a:lumMod val="75000"/>
                  </a:schemeClr>
                </a:solidFill>
                <a:latin typeface="Britannic Bold" panose="020B0903060703020204" pitchFamily="34" charset="0"/>
              </a:rPr>
              <a:t>Average resolution time by request category</a:t>
            </a:r>
            <a:endParaRPr lang="en-US" sz="3200" u="sng" dirty="0">
              <a:solidFill>
                <a:schemeClr val="accent1">
                  <a:lumMod val="75000"/>
                </a:schemeClr>
              </a:solidFill>
              <a:latin typeface="Britannic Bold" panose="020B0903060703020204" pitchFamily="34" charset="0"/>
            </a:endParaRPr>
          </a:p>
        </p:txBody>
      </p:sp>
      <p:sp>
        <p:nvSpPr>
          <p:cNvPr id="7" name="Rectangle 5">
            <a:extLst>
              <a:ext uri="{FF2B5EF4-FFF2-40B4-BE49-F238E27FC236}">
                <a16:creationId xmlns:a16="http://schemas.microsoft.com/office/drawing/2014/main" id="{6E29E9A5-29D7-A964-C7F1-95FAF1E48C01}"/>
              </a:ext>
            </a:extLst>
          </p:cNvPr>
          <p:cNvSpPr>
            <a:spLocks noGrp="1" noChangeArrowheads="1"/>
          </p:cNvSpPr>
          <p:nvPr>
            <p:ph sz="half" idx="2"/>
          </p:nvPr>
        </p:nvSpPr>
        <p:spPr bwMode="auto">
          <a:xfrm>
            <a:off x="6172201" y="1877636"/>
            <a:ext cx="561451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Key Insights: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Hardware and Login Access tickets require the most time to resolve. Hardware-related issues have an average resolution time of </a:t>
            </a:r>
            <a:r>
              <a:rPr kumimoji="0" lang="en-US" altLang="en-US" sz="1800" b="1" i="0" u="none" strike="noStrike" cap="none" normalizeH="0" baseline="0" dirty="0">
                <a:ln>
                  <a:noFill/>
                </a:ln>
                <a:solidFill>
                  <a:schemeClr val="tx1"/>
                </a:solidFill>
                <a:effectLst/>
                <a:latin typeface="Arial" panose="020B0604020202020204" pitchFamily="34" charset="0"/>
              </a:rPr>
              <a:t>7.63 days</a:t>
            </a:r>
            <a:r>
              <a:rPr kumimoji="0" lang="en-US" altLang="en-US" sz="1800" b="0" i="0" u="none" strike="noStrike" cap="none" normalizeH="0" baseline="0" dirty="0">
                <a:ln>
                  <a:noFill/>
                </a:ln>
                <a:solidFill>
                  <a:schemeClr val="tx1"/>
                </a:solidFill>
                <a:effectLst/>
                <a:latin typeface="Arial" panose="020B0604020202020204" pitchFamily="34" charset="0"/>
              </a:rPr>
              <a:t>, while Login Access requests take approximately </a:t>
            </a:r>
            <a:r>
              <a:rPr kumimoji="0" lang="en-US" altLang="en-US" sz="1800" b="1" i="0" u="none" strike="noStrike" cap="none" normalizeH="0" baseline="0" dirty="0">
                <a:ln>
                  <a:noFill/>
                </a:ln>
                <a:solidFill>
                  <a:schemeClr val="tx1"/>
                </a:solidFill>
                <a:effectLst/>
                <a:latin typeface="Arial" panose="020B0604020202020204" pitchFamily="34" charset="0"/>
              </a:rPr>
              <a:t>6.62 days</a:t>
            </a:r>
            <a:r>
              <a:rPr kumimoji="0" lang="en-US" altLang="en-US" sz="1800" b="0" i="0" u="none" strike="noStrike" cap="none" normalizeH="0" baseline="0" dirty="0">
                <a:ln>
                  <a:noFill/>
                </a:ln>
                <a:solidFill>
                  <a:schemeClr val="tx1"/>
                </a:solidFill>
                <a:effectLst/>
                <a:latin typeface="Arial" panose="020B0604020202020204" pitchFamily="34" charset="0"/>
              </a:rPr>
              <a:t>, making these the most time-intensive categories for the IT support team.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In contrast, System-related requests are resolved remarkably quickly. With an average resolution time of just </a:t>
            </a:r>
            <a:r>
              <a:rPr kumimoji="0" lang="en-US" altLang="en-US" sz="1800" b="1" i="0" u="none" strike="noStrike" cap="none" normalizeH="0" baseline="0" dirty="0">
                <a:ln>
                  <a:noFill/>
                </a:ln>
                <a:solidFill>
                  <a:schemeClr val="tx1"/>
                </a:solidFill>
                <a:effectLst/>
                <a:latin typeface="Arial" panose="020B0604020202020204" pitchFamily="34" charset="0"/>
              </a:rPr>
              <a:t>0.31 days</a:t>
            </a:r>
            <a:r>
              <a:rPr kumimoji="0" lang="en-US" altLang="en-US" sz="1800" b="0" i="0" u="none" strike="noStrike" cap="none" normalizeH="0" baseline="0" dirty="0">
                <a:ln>
                  <a:noFill/>
                </a:ln>
                <a:solidFill>
                  <a:schemeClr val="tx1"/>
                </a:solidFill>
                <a:effectLst/>
                <a:latin typeface="Arial" panose="020B0604020202020204" pitchFamily="34" charset="0"/>
              </a:rPr>
              <a:t>, System issues are handled far more efficiently than any other category.</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5122" name="Picture 2"/>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552090" y="2035833"/>
            <a:ext cx="5473979" cy="3650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84705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662E5-B22B-7C48-6D1C-1734933D06C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6CB11634-BB6E-0BD0-DE31-22CD437DE40F}"/>
              </a:ext>
            </a:extLst>
          </p:cNvPr>
          <p:cNvSpPr>
            <a:spLocks noGrp="1"/>
          </p:cNvSpPr>
          <p:nvPr>
            <p:ph type="title"/>
          </p:nvPr>
        </p:nvSpPr>
        <p:spPr/>
        <p:txBody>
          <a:bodyPr>
            <a:normAutofit/>
          </a:bodyPr>
          <a:lstStyle/>
          <a:p>
            <a:pPr algn="ctr"/>
            <a:r>
              <a:rPr lang="en-IN" sz="3600" b="1" u="sng" dirty="0">
                <a:solidFill>
                  <a:schemeClr val="accent1">
                    <a:lumMod val="75000"/>
                  </a:schemeClr>
                </a:solidFill>
                <a:latin typeface="Britannic Bold" panose="020B0903060703020204" pitchFamily="34" charset="0"/>
              </a:rPr>
              <a:t>Distribution of tickets based on resolution time </a:t>
            </a:r>
          </a:p>
        </p:txBody>
      </p:sp>
      <p:sp>
        <p:nvSpPr>
          <p:cNvPr id="11" name="Content Placeholder 10">
            <a:extLst>
              <a:ext uri="{FF2B5EF4-FFF2-40B4-BE49-F238E27FC236}">
                <a16:creationId xmlns:a16="http://schemas.microsoft.com/office/drawing/2014/main" id="{7A6E1F66-008A-9748-94CF-34320CFF3483}"/>
              </a:ext>
            </a:extLst>
          </p:cNvPr>
          <p:cNvSpPr>
            <a:spLocks noGrp="1"/>
          </p:cNvSpPr>
          <p:nvPr>
            <p:ph sz="half" idx="2"/>
          </p:nvPr>
        </p:nvSpPr>
        <p:spPr/>
        <p:txBody>
          <a:bodyPr>
            <a:normAutofit/>
          </a:bodyPr>
          <a:lstStyle/>
          <a:p>
            <a:r>
              <a:rPr lang="en-US" sz="2000" b="1" dirty="0"/>
              <a:t>Key Insights:</a:t>
            </a:r>
            <a:endParaRPr lang="en-US" sz="2000" dirty="0"/>
          </a:p>
          <a:p>
            <a:r>
              <a:rPr lang="en-US" sz="2000" dirty="0"/>
              <a:t>A substantial proportion of tickets are resolved very quickly. The largest share—</a:t>
            </a:r>
            <a:r>
              <a:rPr lang="en-US" sz="2000" b="1" dirty="0"/>
              <a:t>25,071 tickets</a:t>
            </a:r>
            <a:r>
              <a:rPr lang="en-US" sz="2000" dirty="0"/>
              <a:t>—are closed on the same day they are created (0 days resolution time), reflecting strong operational efficiency for a significant portion of support requests.</a:t>
            </a:r>
          </a:p>
          <a:p>
            <a:r>
              <a:rPr lang="en-US" sz="2000" dirty="0"/>
              <a:t>However, ticket volume decreases sharply as resolution time increases. After the initial few days, the number of open cases drops considerably. This pattern suggests that while most issues are addressed promptly, a smaller group of more complex cases requires significantly longer resolution times.</a:t>
            </a:r>
          </a:p>
          <a:p>
            <a:pPr marL="0" indent="0">
              <a:buNone/>
            </a:pPr>
            <a:endParaRPr lang="en-US" dirty="0"/>
          </a:p>
        </p:txBody>
      </p:sp>
      <p:pic>
        <p:nvPicPr>
          <p:cNvPr id="6146" name="Picture 2"/>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463518" y="2122097"/>
            <a:ext cx="5678490" cy="3598401"/>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7682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E0897-1942-79E5-1E5D-853B20DF6F28}"/>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B3BB167B-C8B5-A496-3B1B-70C80F087E15}"/>
              </a:ext>
            </a:extLst>
          </p:cNvPr>
          <p:cNvSpPr>
            <a:spLocks noGrp="1"/>
          </p:cNvSpPr>
          <p:nvPr>
            <p:ph type="title"/>
          </p:nvPr>
        </p:nvSpPr>
        <p:spPr/>
        <p:txBody>
          <a:bodyPr>
            <a:normAutofit/>
          </a:bodyPr>
          <a:lstStyle/>
          <a:p>
            <a:pPr algn="ctr"/>
            <a:r>
              <a:rPr lang="en-IN" sz="3600" b="1" u="sng" dirty="0">
                <a:solidFill>
                  <a:schemeClr val="accent1">
                    <a:lumMod val="75000"/>
                  </a:schemeClr>
                </a:solidFill>
                <a:latin typeface="Bodoni MT Black" panose="02070A03080606020203" pitchFamily="18" charset="0"/>
              </a:rPr>
              <a:t>Age group by satisfaction rate</a:t>
            </a:r>
            <a:r>
              <a:rPr lang="en-IN" sz="3600" b="1" u="sng" dirty="0">
                <a:solidFill>
                  <a:schemeClr val="accent1">
                    <a:lumMod val="75000"/>
                  </a:schemeClr>
                </a:solidFill>
                <a:latin typeface="Britannic Bold" panose="020B0903060703020204" pitchFamily="34" charset="0"/>
              </a:rPr>
              <a:t> </a:t>
            </a:r>
          </a:p>
        </p:txBody>
      </p:sp>
      <p:sp>
        <p:nvSpPr>
          <p:cNvPr id="11" name="Content Placeholder 10">
            <a:extLst>
              <a:ext uri="{FF2B5EF4-FFF2-40B4-BE49-F238E27FC236}">
                <a16:creationId xmlns:a16="http://schemas.microsoft.com/office/drawing/2014/main" id="{40D7B4A9-B121-C415-9649-D9951494C39A}"/>
              </a:ext>
            </a:extLst>
          </p:cNvPr>
          <p:cNvSpPr>
            <a:spLocks noGrp="1"/>
          </p:cNvSpPr>
          <p:nvPr>
            <p:ph sz="half" idx="2"/>
          </p:nvPr>
        </p:nvSpPr>
        <p:spPr/>
        <p:txBody>
          <a:bodyPr>
            <a:normAutofit/>
          </a:bodyPr>
          <a:lstStyle/>
          <a:p>
            <a:r>
              <a:rPr lang="en-US" sz="2000" b="1" dirty="0"/>
              <a:t>Key Insights:</a:t>
            </a:r>
            <a:endParaRPr lang="en-US" sz="2000" dirty="0"/>
          </a:p>
          <a:p>
            <a:r>
              <a:rPr lang="en-US" sz="2000" dirty="0"/>
              <a:t>The highest satisfaction levels are observed among the youngest and oldest user groups. Employees aged </a:t>
            </a:r>
            <a:r>
              <a:rPr lang="en-US" sz="2000" b="1" dirty="0"/>
              <a:t>20–29</a:t>
            </a:r>
            <a:r>
              <a:rPr lang="en-US" sz="2000" dirty="0"/>
              <a:t> report the highest average satisfaction score of </a:t>
            </a:r>
            <a:r>
              <a:rPr lang="en-US" sz="2000" b="1" dirty="0"/>
              <a:t>4.23</a:t>
            </a:r>
            <a:r>
              <a:rPr lang="en-US" sz="2000" dirty="0"/>
              <a:t>, while those aged </a:t>
            </a:r>
            <a:r>
              <a:rPr lang="en-US" sz="2000" b="1" dirty="0"/>
              <a:t>50 and above</a:t>
            </a:r>
            <a:r>
              <a:rPr lang="en-US" sz="2000" dirty="0"/>
              <a:t> also show strong satisfaction with a score of </a:t>
            </a:r>
            <a:r>
              <a:rPr lang="en-US" sz="2000" b="1" dirty="0"/>
              <a:t>4.16</a:t>
            </a:r>
            <a:r>
              <a:rPr lang="en-US" sz="2000" dirty="0"/>
              <a:t>.</a:t>
            </a:r>
          </a:p>
          <a:p>
            <a:r>
              <a:rPr lang="en-US" sz="2000" dirty="0"/>
              <a:t>In contrast, the middle age groups record comparatively lower satisfaction levels. The </a:t>
            </a:r>
            <a:r>
              <a:rPr lang="en-US" sz="2000" b="1" dirty="0"/>
              <a:t>40–49</a:t>
            </a:r>
            <a:r>
              <a:rPr lang="en-US" sz="2000" dirty="0"/>
              <a:t> age group reports the lowest average score of </a:t>
            </a:r>
            <a:r>
              <a:rPr lang="en-US" sz="2000" b="1" dirty="0"/>
              <a:t>4.05</a:t>
            </a:r>
            <a:r>
              <a:rPr lang="en-US" sz="2000" dirty="0"/>
              <a:t>, indicating that the support experience may not fully meet the expectations of users within this demographic.</a:t>
            </a:r>
          </a:p>
          <a:p>
            <a:pPr marL="0" indent="0">
              <a:buNone/>
            </a:pPr>
            <a:endParaRPr lang="en-US" dirty="0"/>
          </a:p>
        </p:txBody>
      </p:sp>
      <p:pic>
        <p:nvPicPr>
          <p:cNvPr id="7170" name="Picture 2"/>
          <p:cNvPicPr>
            <a:picLocks noGrp="1" noChangeAspect="1" noChangeArrowheads="1"/>
          </p:cNvPicPr>
          <p:nvPr>
            <p:ph sz="half" idx="1"/>
          </p:nvPr>
        </p:nvPicPr>
        <p:blipFill>
          <a:blip>
            <a:extLst>
              <a:ext uri="{96DAC541-7B7A-43D3-8B79-37D633B846F1}">
                <asvg:svgBlip xmlns:asvg="http://schemas.microsoft.com/office/drawing/2016/SVG/main" r:embed="rId2"/>
              </a:ext>
            </a:extLst>
          </a:blip>
          <a:srcRect/>
          <a:stretch/>
        </p:blipFill>
        <p:spPr bwMode="auto">
          <a:xfrm>
            <a:off x="578866" y="2225616"/>
            <a:ext cx="5250769" cy="3271312"/>
          </a:xfrm>
          <a:prstGeom prst="rect">
            <a:avLst/>
          </a:prstGeom>
          <a:noFill/>
          <a:ln>
            <a:noFill/>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691137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815009" y="278296"/>
            <a:ext cx="10624930" cy="6380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8767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FF431-9BA5-58B1-8E02-B231D28ABEA4}"/>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1A0FD62-0435-29C8-BBB7-6DAE3485B9DB}"/>
              </a:ext>
            </a:extLst>
          </p:cNvPr>
          <p:cNvSpPr>
            <a:spLocks noGrp="1"/>
          </p:cNvSpPr>
          <p:nvPr>
            <p:ph type="title"/>
          </p:nvPr>
        </p:nvSpPr>
        <p:spPr/>
        <p:txBody>
          <a:bodyPr>
            <a:normAutofit/>
          </a:bodyPr>
          <a:lstStyle/>
          <a:p>
            <a:pPr algn="ctr"/>
            <a:r>
              <a:rPr lang="en-IN" sz="3600" b="1" i="0" u="sng" dirty="0">
                <a:solidFill>
                  <a:schemeClr val="accent1">
                    <a:lumMod val="75000"/>
                  </a:schemeClr>
                </a:solidFill>
                <a:effectLst/>
                <a:latin typeface="Bodoni MT Black" panose="02070A03080606020203" pitchFamily="18" charset="0"/>
              </a:rPr>
              <a:t>Recommended Action Plan</a:t>
            </a:r>
            <a:r>
              <a:rPr lang="en-IN" sz="3600" b="1" u="sng" dirty="0">
                <a:solidFill>
                  <a:schemeClr val="accent1">
                    <a:lumMod val="75000"/>
                  </a:schemeClr>
                </a:solidFill>
                <a:latin typeface="Britannic Bold" panose="020B0903060703020204" pitchFamily="34" charset="0"/>
              </a:rPr>
              <a:t> </a:t>
            </a:r>
          </a:p>
        </p:txBody>
      </p:sp>
      <p:sp>
        <p:nvSpPr>
          <p:cNvPr id="11" name="Content Placeholder 10">
            <a:extLst>
              <a:ext uri="{FF2B5EF4-FFF2-40B4-BE49-F238E27FC236}">
                <a16:creationId xmlns:a16="http://schemas.microsoft.com/office/drawing/2014/main" id="{A5EA1124-CAEB-33F6-28EE-AF9030467B38}"/>
              </a:ext>
            </a:extLst>
          </p:cNvPr>
          <p:cNvSpPr>
            <a:spLocks noGrp="1"/>
          </p:cNvSpPr>
          <p:nvPr>
            <p:ph idx="1"/>
          </p:nvPr>
        </p:nvSpPr>
        <p:spPr/>
        <p:txBody>
          <a:bodyPr>
            <a:normAutofit/>
          </a:bodyPr>
          <a:lstStyle/>
          <a:p>
            <a:r>
              <a:rPr lang="en-US" sz="2000" b="1" u="sng" dirty="0">
                <a:solidFill>
                  <a:srgbClr val="FF0000"/>
                </a:solidFill>
              </a:rPr>
              <a:t>Primary Recommendation:</a:t>
            </a:r>
          </a:p>
          <a:p>
            <a:r>
              <a:rPr lang="en-US" sz="2000" b="1" dirty="0">
                <a:solidFill>
                  <a:srgbClr val="00B050"/>
                </a:solidFill>
              </a:rPr>
              <a:t>Upgrade the Ticket Management System.</a:t>
            </a:r>
            <a:br>
              <a:rPr lang="en-US" sz="2000" dirty="0"/>
            </a:br>
            <a:r>
              <a:rPr lang="en-US" sz="2000" dirty="0"/>
              <a:t>The existing system lacks efficiency, particularly in managing complex tickets and supporting automation. Implementing a more advanced ticketing solution will serve as the foundation for improving overall service performance and streamlining workflows.</a:t>
            </a:r>
            <a:br>
              <a:rPr lang="en-US" sz="2000" dirty="0"/>
            </a:br>
            <a:endParaRPr lang="en-US" sz="2000" dirty="0"/>
          </a:p>
          <a:p>
            <a:r>
              <a:rPr lang="en-US" sz="2000" b="1" u="sng" dirty="0">
                <a:solidFill>
                  <a:srgbClr val="FF0000"/>
                </a:solidFill>
              </a:rPr>
              <a:t>Secondary Recommendations:</a:t>
            </a:r>
          </a:p>
          <a:p>
            <a:r>
              <a:rPr lang="en-US" sz="2000" b="1" dirty="0">
                <a:solidFill>
                  <a:srgbClr val="00B050"/>
                </a:solidFill>
              </a:rPr>
              <a:t>1. Automate Login Access Requests:</a:t>
            </a:r>
            <a:br>
              <a:rPr lang="en-US" sz="2000" dirty="0"/>
            </a:br>
            <a:r>
              <a:rPr lang="en-US" sz="2000" dirty="0"/>
              <a:t>Introduce a self-service password reset system to reduce ticket volume and free up agent capacity for more critical tasks.</a:t>
            </a:r>
          </a:p>
          <a:p>
            <a:r>
              <a:rPr lang="en-US" sz="2000" b="1" dirty="0">
                <a:solidFill>
                  <a:srgbClr val="00B050"/>
                </a:solidFill>
              </a:rPr>
              <a:t>2. Implement Specialized Training Programs: </a:t>
            </a:r>
            <a:br>
              <a:rPr lang="en-US" sz="2000" dirty="0"/>
            </a:br>
            <a:r>
              <a:rPr lang="en-US" sz="2000" dirty="0"/>
              <a:t>Design targeted training sessions focused on handling “System” and “Hardware” issues to improve technical expertise and reduce resolution times for complex cases.</a:t>
            </a:r>
          </a:p>
          <a:p>
            <a:pPr marL="0" indent="0">
              <a:buNone/>
            </a:pPr>
            <a:endParaRPr lang="en-US" dirty="0"/>
          </a:p>
        </p:txBody>
      </p:sp>
    </p:spTree>
    <p:extLst>
      <p:ext uri="{BB962C8B-B14F-4D97-AF65-F5344CB8AC3E}">
        <p14:creationId xmlns:p14="http://schemas.microsoft.com/office/powerpoint/2010/main" val="11637076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930234-02B7-C0AE-7A49-66FFD4218B8F}"/>
              </a:ext>
            </a:extLst>
          </p:cNvPr>
          <p:cNvSpPr>
            <a:spLocks noGrp="1"/>
          </p:cNvSpPr>
          <p:nvPr>
            <p:ph type="title"/>
          </p:nvPr>
        </p:nvSpPr>
        <p:spPr/>
        <p:txBody>
          <a:bodyPr>
            <a:normAutofit/>
          </a:bodyPr>
          <a:lstStyle/>
          <a:p>
            <a:pPr algn="ctr"/>
            <a:r>
              <a:rPr lang="en-IN" sz="4000" b="1" i="0" u="sng" dirty="0">
                <a:solidFill>
                  <a:srgbClr val="0070C0"/>
                </a:solidFill>
                <a:effectLst/>
                <a:latin typeface="Bodoni MT Black" panose="02070A03080606020203" pitchFamily="18" charset="0"/>
              </a:rPr>
              <a:t>Summary of Key Findings</a:t>
            </a:r>
            <a:endParaRPr lang="en-US" sz="4000" u="sng" dirty="0">
              <a:solidFill>
                <a:srgbClr val="0070C0"/>
              </a:solidFill>
              <a:latin typeface="Bodoni MT Black" panose="02070A03080606020203" pitchFamily="18" charset="0"/>
            </a:endParaRPr>
          </a:p>
        </p:txBody>
      </p:sp>
      <p:pic>
        <p:nvPicPr>
          <p:cNvPr id="4" name="Picture 3">
            <a:extLst>
              <a:ext uri="{FF2B5EF4-FFF2-40B4-BE49-F238E27FC236}">
                <a16:creationId xmlns:a16="http://schemas.microsoft.com/office/drawing/2014/main" id="{9DF4D16A-34EC-4335-248C-B64A0B11E1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6980" y="2094270"/>
            <a:ext cx="2182761" cy="3347423"/>
          </a:xfrm>
          <a:prstGeom prst="rect">
            <a:avLst/>
          </a:prstGeom>
        </p:spPr>
      </p:pic>
      <p:pic>
        <p:nvPicPr>
          <p:cNvPr id="6" name="Picture 5">
            <a:extLst>
              <a:ext uri="{FF2B5EF4-FFF2-40B4-BE49-F238E27FC236}">
                <a16:creationId xmlns:a16="http://schemas.microsoft.com/office/drawing/2014/main" id="{589DABDB-1476-7919-2EE8-2FEA03DF92B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59625" y="2094270"/>
            <a:ext cx="2561304" cy="3347423"/>
          </a:xfrm>
          <a:prstGeom prst="rect">
            <a:avLst/>
          </a:prstGeom>
        </p:spPr>
      </p:pic>
      <p:pic>
        <p:nvPicPr>
          <p:cNvPr id="8" name="Picture 7">
            <a:extLst>
              <a:ext uri="{FF2B5EF4-FFF2-40B4-BE49-F238E27FC236}">
                <a16:creationId xmlns:a16="http://schemas.microsoft.com/office/drawing/2014/main" id="{EACC3863-239C-852C-2B8D-5863F93C25D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38800" y="2094270"/>
            <a:ext cx="2561304" cy="3347423"/>
          </a:xfrm>
          <a:prstGeom prst="rect">
            <a:avLst/>
          </a:prstGeom>
        </p:spPr>
      </p:pic>
      <p:pic>
        <p:nvPicPr>
          <p:cNvPr id="10" name="Picture 9">
            <a:extLst>
              <a:ext uri="{FF2B5EF4-FFF2-40B4-BE49-F238E27FC236}">
                <a16:creationId xmlns:a16="http://schemas.microsoft.com/office/drawing/2014/main" id="{981A042A-6E12-B980-9B4B-64AA601EC8D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617975" y="2094270"/>
            <a:ext cx="2812026" cy="3183409"/>
          </a:xfrm>
          <a:prstGeom prst="rect">
            <a:avLst/>
          </a:prstGeom>
        </p:spPr>
      </p:pic>
    </p:spTree>
    <p:extLst>
      <p:ext uri="{BB962C8B-B14F-4D97-AF65-F5344CB8AC3E}">
        <p14:creationId xmlns:p14="http://schemas.microsoft.com/office/powerpoint/2010/main" val="26623033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006FE-185D-C209-1F93-4F4ED4C9054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0EAC152C-1F6D-3B77-65B4-8FE4D7A21972}"/>
              </a:ext>
            </a:extLst>
          </p:cNvPr>
          <p:cNvSpPr>
            <a:spLocks noGrp="1"/>
          </p:cNvSpPr>
          <p:nvPr>
            <p:ph type="title"/>
          </p:nvPr>
        </p:nvSpPr>
        <p:spPr/>
        <p:txBody>
          <a:bodyPr>
            <a:normAutofit/>
          </a:bodyPr>
          <a:lstStyle/>
          <a:p>
            <a:pPr algn="ctr"/>
            <a:r>
              <a:rPr lang="en-IN" sz="3600" b="1" u="sng" dirty="0">
                <a:solidFill>
                  <a:srgbClr val="0070C0"/>
                </a:solidFill>
                <a:latin typeface="Bodoni MT Black" panose="02070A03080606020203" pitchFamily="18" charset="0"/>
              </a:rPr>
              <a:t>Conclusion </a:t>
            </a:r>
          </a:p>
        </p:txBody>
      </p:sp>
      <p:sp>
        <p:nvSpPr>
          <p:cNvPr id="11" name="Content Placeholder 10">
            <a:extLst>
              <a:ext uri="{FF2B5EF4-FFF2-40B4-BE49-F238E27FC236}">
                <a16:creationId xmlns:a16="http://schemas.microsoft.com/office/drawing/2014/main" id="{AFDA521B-7E51-ED42-70F8-AC6DA367F4B9}"/>
              </a:ext>
            </a:extLst>
          </p:cNvPr>
          <p:cNvSpPr>
            <a:spLocks noGrp="1"/>
          </p:cNvSpPr>
          <p:nvPr>
            <p:ph idx="1"/>
          </p:nvPr>
        </p:nvSpPr>
        <p:spPr>
          <a:xfrm>
            <a:off x="838200" y="1825625"/>
            <a:ext cx="10515600" cy="4773958"/>
          </a:xfrm>
        </p:spPr>
        <p:txBody>
          <a:bodyPr>
            <a:normAutofit lnSpcReduction="10000"/>
          </a:bodyPr>
          <a:lstStyle/>
          <a:p>
            <a:r>
              <a:rPr lang="en-US" sz="1500" b="1" u="sng" dirty="0">
                <a:solidFill>
                  <a:srgbClr val="FF0000"/>
                </a:solidFill>
              </a:rPr>
              <a:t>Key Insights presented step by step:</a:t>
            </a:r>
            <a:br>
              <a:rPr lang="en-US" sz="1500" dirty="0"/>
            </a:br>
            <a:endParaRPr lang="en-US" sz="1500" dirty="0"/>
          </a:p>
          <a:p>
            <a:r>
              <a:rPr lang="en-US" sz="1500" b="1" dirty="0"/>
              <a:t>✅ Step 1: </a:t>
            </a:r>
            <a:r>
              <a:rPr lang="en-US" sz="1500" b="1" u="sng" dirty="0">
                <a:solidFill>
                  <a:srgbClr val="FF0000"/>
                </a:solidFill>
              </a:rPr>
              <a:t>Workload Management</a:t>
            </a:r>
          </a:p>
          <a:p>
            <a:r>
              <a:rPr lang="en-US" sz="1500" dirty="0"/>
              <a:t>The help desk is effectively managing a rapidly increasing workload. Even though ticket volume has more than doubled over five years, the team maintains strong performance with a high same-day resolution rate and steadily improving satisfaction scores.</a:t>
            </a:r>
            <a:br>
              <a:rPr lang="en-US" sz="1500" dirty="0"/>
            </a:br>
            <a:endParaRPr lang="en-US" sz="1500" dirty="0"/>
          </a:p>
          <a:p>
            <a:r>
              <a:rPr lang="en-US" sz="1500" b="1" dirty="0"/>
              <a:t>✅ Step 2: </a:t>
            </a:r>
            <a:r>
              <a:rPr lang="en-US" sz="1500" b="1" u="sng" dirty="0">
                <a:solidFill>
                  <a:srgbClr val="FF0000"/>
                </a:solidFill>
              </a:rPr>
              <a:t>Service Quality Performance</a:t>
            </a:r>
          </a:p>
          <a:p>
            <a:r>
              <a:rPr lang="en-US" sz="1500" dirty="0"/>
              <a:t>Overall service quality is strong, with a majority of users giving a 5 out of 5 rating. This indicates that the team is capable of delivering excellent support in most cases.</a:t>
            </a:r>
            <a:br>
              <a:rPr lang="en-US" sz="1500" dirty="0"/>
            </a:br>
            <a:endParaRPr lang="en-US" sz="1500" dirty="0"/>
          </a:p>
          <a:p>
            <a:r>
              <a:rPr lang="en-US" sz="1500" b="1" dirty="0"/>
              <a:t>✅ Step 3: </a:t>
            </a:r>
            <a:r>
              <a:rPr lang="en-US" sz="1500" b="1" u="sng" dirty="0">
                <a:solidFill>
                  <a:srgbClr val="FF0000"/>
                </a:solidFill>
              </a:rPr>
              <a:t>Service Consistency Gap</a:t>
            </a:r>
          </a:p>
          <a:p>
            <a:r>
              <a:rPr lang="en-US" sz="1500" dirty="0"/>
              <a:t>Despite high overall satisfaction, a noticeable number of tickets receive low ratings. This suggests inconsistency in service delivery and highlights the need to standardize processes.</a:t>
            </a:r>
            <a:br>
              <a:rPr lang="en-US" sz="1500" dirty="0"/>
            </a:br>
            <a:endParaRPr lang="en-US" sz="1500" dirty="0"/>
          </a:p>
          <a:p>
            <a:r>
              <a:rPr lang="en-US" sz="1500" b="1" dirty="0"/>
              <a:t>✅ Step 4: </a:t>
            </a:r>
            <a:r>
              <a:rPr lang="en-US" sz="1500" b="1" u="sng" dirty="0">
                <a:solidFill>
                  <a:srgbClr val="FF0000"/>
                </a:solidFill>
              </a:rPr>
              <a:t>Operational Bottlenecks</a:t>
            </a:r>
          </a:p>
          <a:p>
            <a:r>
              <a:rPr lang="en-US" sz="1500" dirty="0"/>
              <a:t>Hardware and Login Access tickets take significantly longer to resolve (around 6–8 days on average), making them the primary contributors to delays and reduced efficiency. </a:t>
            </a:r>
            <a:br>
              <a:rPr lang="en-US" sz="1500" dirty="0"/>
            </a:br>
            <a:endParaRPr lang="en-US" sz="1600" dirty="0"/>
          </a:p>
        </p:txBody>
      </p:sp>
    </p:spTree>
    <p:extLst>
      <p:ext uri="{BB962C8B-B14F-4D97-AF65-F5344CB8AC3E}">
        <p14:creationId xmlns:p14="http://schemas.microsoft.com/office/powerpoint/2010/main" val="6183529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151</TotalTime>
  <Words>1261</Words>
  <Application>Microsoft Office PowerPoint</Application>
  <PresentationFormat>Widescreen</PresentationFormat>
  <Paragraphs>63</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Arial Black</vt:lpstr>
      <vt:lpstr>Bodoni MT Black</vt:lpstr>
      <vt:lpstr>Britannic Bold</vt:lpstr>
      <vt:lpstr>Calibri</vt:lpstr>
      <vt:lpstr>Calibri Light</vt:lpstr>
      <vt:lpstr>Office Theme</vt:lpstr>
      <vt:lpstr>   IT TICKET ANALYSIS</vt:lpstr>
      <vt:lpstr>Problem Statement The purpose of this analysis is to evaluate the IT support ticket management system in order to measure agent performance, resolution efficiency, and employee satisfaction levels. The study aims to identify top and underperforming IT agents, examine the overall effectiveness of the support team, and highlight areas where the ticket resolution process can be improved. Ultimately, the objective is to support data-driven staffing decisions—such as hiring, termination, and training—to improve service quality and enhance overall team performance. </vt:lpstr>
      <vt:lpstr>Data overview</vt:lpstr>
      <vt:lpstr>Analysis of Ticket Volume (2016-2020)</vt:lpstr>
      <vt:lpstr>Ticket Distribution by Category</vt:lpstr>
      <vt:lpstr>Evolution of Customer Satisfaction (2016-2020)</vt:lpstr>
      <vt:lpstr>AGENT TICKET VOLUME WITH NAMES</vt:lpstr>
      <vt:lpstr>Ticket Distribution by Satisfaction Score</vt:lpstr>
      <vt:lpstr>Average resolution time by request category</vt:lpstr>
      <vt:lpstr>Distribution of tickets based on resolution time </vt:lpstr>
      <vt:lpstr>Age group by satisfaction rate </vt:lpstr>
      <vt:lpstr>PowerPoint Presentation</vt:lpstr>
      <vt:lpstr>Recommended Action Plan </vt:lpstr>
      <vt:lpstr>Summary of Key Findings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IT TICKET ANALYSIS</dc:title>
  <dc:creator>Administrator</dc:creator>
  <cp:lastModifiedBy>KRISH SHARMA</cp:lastModifiedBy>
  <cp:revision>9</cp:revision>
  <dcterms:created xsi:type="dcterms:W3CDTF">2026-03-01T10:18:38Z</dcterms:created>
  <dcterms:modified xsi:type="dcterms:W3CDTF">2026-04-03T17:47:06Z</dcterms:modified>
</cp:coreProperties>
</file>